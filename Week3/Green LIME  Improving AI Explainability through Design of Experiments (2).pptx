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Lexend Light"/>
      <p:regular r:id="rId35"/>
      <p:bold r:id="rId36"/>
    </p:embeddedFont>
    <p:embeddedFont>
      <p:font typeface="Lexend Medium"/>
      <p:regular r:id="rId37"/>
      <p:bold r:id="rId38"/>
    </p:embeddedFont>
    <p:embeddedFont>
      <p:font typeface="DM Sans SemiBold"/>
      <p:regular r:id="rId39"/>
      <p:bold r:id="rId40"/>
      <p:italic r:id="rId41"/>
      <p:boldItalic r:id="rId42"/>
    </p:embeddedFont>
    <p:embeddedFont>
      <p:font typeface="Lexend"/>
      <p:regular r:id="rId43"/>
      <p:bold r:id="rId44"/>
    </p:embeddedFont>
    <p:embeddedFont>
      <p:font typeface="DM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SemiBold-bold.fntdata"/><Relationship Id="rId20" Type="http://schemas.openxmlformats.org/officeDocument/2006/relationships/slide" Target="slides/slide15.xml"/><Relationship Id="rId42" Type="http://schemas.openxmlformats.org/officeDocument/2006/relationships/font" Target="fonts/DMSansSemiBold-boldItalic.fntdata"/><Relationship Id="rId41" Type="http://schemas.openxmlformats.org/officeDocument/2006/relationships/font" Target="fonts/DMSansSemiBold-italic.fntdata"/><Relationship Id="rId22" Type="http://schemas.openxmlformats.org/officeDocument/2006/relationships/slide" Target="slides/slide17.xml"/><Relationship Id="rId44" Type="http://schemas.openxmlformats.org/officeDocument/2006/relationships/font" Target="fonts/Lexend-bold.fntdata"/><Relationship Id="rId21" Type="http://schemas.openxmlformats.org/officeDocument/2006/relationships/slide" Target="slides/slide16.xml"/><Relationship Id="rId43" Type="http://schemas.openxmlformats.org/officeDocument/2006/relationships/font" Target="fonts/Lexend-regular.fntdata"/><Relationship Id="rId24" Type="http://schemas.openxmlformats.org/officeDocument/2006/relationships/slide" Target="slides/slide19.xml"/><Relationship Id="rId46" Type="http://schemas.openxmlformats.org/officeDocument/2006/relationships/font" Target="fonts/DMSans-bold.fntdata"/><Relationship Id="rId23" Type="http://schemas.openxmlformats.org/officeDocument/2006/relationships/slide" Target="slides/slide18.xml"/><Relationship Id="rId45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DMSans-boldItalic.fntdata"/><Relationship Id="rId25" Type="http://schemas.openxmlformats.org/officeDocument/2006/relationships/slide" Target="slides/slide20.xml"/><Relationship Id="rId47" Type="http://schemas.openxmlformats.org/officeDocument/2006/relationships/font" Target="fonts/DM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LexendLigh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exendMedium-regular.fntdata"/><Relationship Id="rId14" Type="http://schemas.openxmlformats.org/officeDocument/2006/relationships/slide" Target="slides/slide9.xml"/><Relationship Id="rId36" Type="http://schemas.openxmlformats.org/officeDocument/2006/relationships/font" Target="fonts/LexendLight-bold.fntdata"/><Relationship Id="rId17" Type="http://schemas.openxmlformats.org/officeDocument/2006/relationships/slide" Target="slides/slide12.xml"/><Relationship Id="rId39" Type="http://schemas.openxmlformats.org/officeDocument/2006/relationships/font" Target="fonts/DMSansSemiBold-regular.fntdata"/><Relationship Id="rId16" Type="http://schemas.openxmlformats.org/officeDocument/2006/relationships/slide" Target="slides/slide11.xml"/><Relationship Id="rId38" Type="http://schemas.openxmlformats.org/officeDocument/2006/relationships/font" Target="fonts/Lexend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a461999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a461999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a461999b5_0_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a461999b5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a461999b5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a461999b5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a461999b5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ca461999b5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a461999b5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ca461999b5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ae090f62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cae090f62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a461999b5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a461999b5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a461999b5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a461999b5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a461999b5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a461999b5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ae090f62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cae090f62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a461999b5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ca461999b5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af7bb63d7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caf7bb63d7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a461999b5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ca461999b5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af7bb63d7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caf7bb63d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af7bb63d7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af7bb63d7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ca461999b5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ca461999b5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af7bb63d7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caf7bb63d7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a461999b5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a461999b5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af7bb63d7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caf7bb63d7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af7bb63d7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caf7bb63d7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caf7bb63d7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caf7bb63d7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af7bb63d7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af7bb63d7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af7bb63d7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af7bb63d7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caf7bb63d7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caf7bb63d7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caf7bb63d7_1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caf7bb63d7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af7bb63d7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af7bb63d7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af7bb63d7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caf7bb63d7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ca461999b5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ca461999b5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af7bb63d7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caf7bb63d7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244425" y="503075"/>
            <a:ext cx="5311200" cy="23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6AA84F"/>
                </a:solidFill>
                <a:latin typeface="Lexend"/>
                <a:ea typeface="Lexend"/>
                <a:cs typeface="Lexend"/>
                <a:sym typeface="Lexend"/>
              </a:rPr>
              <a:t>Green</a:t>
            </a:r>
            <a:r>
              <a:rPr b="1" lang="en" sz="4000">
                <a:latin typeface="Lexend"/>
                <a:ea typeface="Lexend"/>
                <a:cs typeface="Lexend"/>
                <a:sym typeface="Lexend"/>
              </a:rPr>
              <a:t> LIME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/>
              <a:t>Improving AI Explainability through Design of Experiments</a:t>
            </a:r>
            <a:endParaRPr i="1" sz="3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244431" y="3259725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IIT Madras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26. 02. 2026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33750" y="186950"/>
            <a:ext cx="8462700" cy="12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Why Explainability is Needed in AI?</a:t>
            </a:r>
            <a:endParaRPr sz="3500"/>
          </a:p>
        </p:txBody>
      </p:sp>
      <p:sp>
        <p:nvSpPr>
          <p:cNvPr id="307" name="Google Shape;307;p39"/>
          <p:cNvSpPr txBox="1"/>
          <p:nvPr>
            <p:ph idx="3" type="body"/>
          </p:nvPr>
        </p:nvSpPr>
        <p:spPr>
          <a:xfrm>
            <a:off x="169175" y="1092700"/>
            <a:ext cx="8627400" cy="3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Modern AI models are complex black boxes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We cannot understand: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Why a prediction was made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Which features influenced it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Why this matters? </a:t>
            </a:r>
            <a:endParaRPr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Trust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requires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explainability.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For example, in following fields we need explanation of certain prediction: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Healthcare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Finance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Legal systems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750" y="1175000"/>
            <a:ext cx="4977651" cy="211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 txBox="1"/>
          <p:nvPr>
            <p:ph type="title"/>
          </p:nvPr>
        </p:nvSpPr>
        <p:spPr>
          <a:xfrm>
            <a:off x="340650" y="91200"/>
            <a:ext cx="8462700" cy="5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Primary</a:t>
            </a:r>
            <a:r>
              <a:rPr lang="en" sz="2500"/>
              <a:t> Model vs </a:t>
            </a:r>
            <a:r>
              <a:rPr b="1" lang="en" sz="2500"/>
              <a:t>S</a:t>
            </a:r>
            <a:r>
              <a:rPr b="1" lang="en" sz="2500"/>
              <a:t>e</a:t>
            </a:r>
            <a:r>
              <a:rPr b="1" lang="en" sz="2500"/>
              <a:t>condary</a:t>
            </a:r>
            <a:r>
              <a:rPr lang="en" sz="2500"/>
              <a:t> Model</a:t>
            </a:r>
            <a:endParaRPr sz="2500"/>
          </a:p>
        </p:txBody>
      </p:sp>
      <p:sp>
        <p:nvSpPr>
          <p:cNvPr id="314" name="Google Shape;314;p40"/>
          <p:cNvSpPr/>
          <p:nvPr/>
        </p:nvSpPr>
        <p:spPr>
          <a:xfrm>
            <a:off x="146030" y="743100"/>
            <a:ext cx="3510300" cy="3809700"/>
          </a:xfrm>
          <a:prstGeom prst="flowChartAlternateProcess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450" lIns="95450" spcFirstLastPara="1" rIns="95450" wrap="square" tIns="95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1. Primary Model (The "Black-Box")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r>
              <a:rPr lang="en" sz="1100">
                <a:solidFill>
                  <a:schemeClr val="dk1"/>
                </a:solidFill>
              </a:rPr>
              <a:t> A complex machine learning model whose reasoning exceeds human understanding and requires explanation.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Mathematical Function:</a:t>
            </a:r>
            <a:endParaRPr b="1" sz="1100">
              <a:solidFill>
                <a:schemeClr val="dk1"/>
              </a:solidFill>
            </a:endParaRPr>
          </a:p>
          <a:p>
            <a:pPr indent="0" lvl="0" marL="424562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24562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Scope &amp; Nature:</a:t>
            </a:r>
            <a:r>
              <a:rPr lang="en" sz="1100">
                <a:solidFill>
                  <a:schemeClr val="dk1"/>
                </a:solidFill>
              </a:rPr>
              <a:t> Operates on the </a:t>
            </a:r>
            <a:r>
              <a:rPr b="1" lang="en" sz="1100">
                <a:solidFill>
                  <a:schemeClr val="dk1"/>
                </a:solidFill>
              </a:rPr>
              <a:t>global model domain</a:t>
            </a:r>
            <a:r>
              <a:rPr lang="en" sz="1100">
                <a:solidFill>
                  <a:schemeClr val="dk1"/>
                </a:solidFill>
              </a:rPr>
              <a:t>; the functional form and prediction surface of fff are typically </a:t>
            </a:r>
            <a:r>
              <a:rPr b="1" lang="en" sz="1100">
                <a:solidFill>
                  <a:schemeClr val="dk1"/>
                </a:solidFill>
              </a:rPr>
              <a:t>unknown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67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4305825" y="743100"/>
            <a:ext cx="4679100" cy="3809700"/>
          </a:xfrm>
          <a:prstGeom prst="flowChartAlternateProcess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450" lIns="95450" spcFirstLastPara="1" rIns="95450" wrap="square" tIns="95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2. Secondary Model (The Interpretable Surrogate)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Definition:</a:t>
            </a:r>
            <a:r>
              <a:rPr lang="en" sz="1100">
                <a:solidFill>
                  <a:schemeClr val="dk1"/>
                </a:solidFill>
              </a:rPr>
              <a:t> A simple, interpretable model used to approximate the primary model locally.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Mathematical Function: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Optimization (Weighted Least Squares):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53"/>
              </a:spcBef>
              <a:spcAft>
                <a:spcPts val="1253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Scope &amp; Nature: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Model-agnostic</a:t>
            </a:r>
            <a:r>
              <a:rPr lang="en" sz="1100">
                <a:solidFill>
                  <a:schemeClr val="dk1"/>
                </a:solidFill>
              </a:rPr>
              <a:t>, operates </a:t>
            </a:r>
            <a:r>
              <a:rPr b="1" lang="en" sz="1100">
                <a:solidFill>
                  <a:schemeClr val="dk1"/>
                </a:solidFill>
              </a:rPr>
              <a:t>locally</a:t>
            </a:r>
            <a:r>
              <a:rPr lang="en" sz="1100">
                <a:solidFill>
                  <a:schemeClr val="dk1"/>
                </a:solidFill>
              </a:rPr>
              <a:t> around x_0; common types include </a:t>
            </a:r>
            <a:r>
              <a:rPr b="1" lang="en" sz="1100">
                <a:solidFill>
                  <a:schemeClr val="dk1"/>
                </a:solidFill>
              </a:rPr>
              <a:t>linear regression and decision trees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316" name="Google Shape;31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275" y="3007600"/>
            <a:ext cx="2330998" cy="29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4349" y="2132638"/>
            <a:ext cx="1494226" cy="323375"/>
          </a:xfrm>
          <a:prstGeom prst="rect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8" name="Google Shape;31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0163" y="2498450"/>
            <a:ext cx="3430425" cy="29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5219" y="3185652"/>
            <a:ext cx="2586301" cy="5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525879">
            <a:off x="3284950" y="2171211"/>
            <a:ext cx="1280675" cy="95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2967225" y="186950"/>
            <a:ext cx="58293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LIME</a:t>
            </a:r>
            <a:endParaRPr/>
          </a:p>
        </p:txBody>
      </p:sp>
      <p:sp>
        <p:nvSpPr>
          <p:cNvPr id="326" name="Google Shape;326;p41"/>
          <p:cNvSpPr txBox="1"/>
          <p:nvPr>
            <p:ph idx="3" type="body"/>
          </p:nvPr>
        </p:nvSpPr>
        <p:spPr>
          <a:xfrm>
            <a:off x="3697950" y="955550"/>
            <a:ext cx="5280000" cy="3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Model-Agnostic Framework:</a:t>
            </a:r>
            <a:r>
              <a:rPr lang="en"/>
              <a:t> LIME explains individual predictions by fitting an interpretable </a:t>
            </a:r>
            <a:r>
              <a:rPr b="1" lang="en"/>
              <a:t>secondary model</a:t>
            </a:r>
            <a:r>
              <a:rPr lang="en"/>
              <a:t> (e.g., linear regression) to a complex primary model’s output at the instance level.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Kernel-Based Locality:</a:t>
            </a:r>
            <a:r>
              <a:rPr lang="en"/>
              <a:t> It employs a </a:t>
            </a:r>
            <a:r>
              <a:rPr b="1" lang="en"/>
              <a:t>kernel function</a:t>
            </a:r>
            <a:r>
              <a:rPr lang="en"/>
              <a:t> (defaulting to RBF) and distance metrics to weight samples, ensuring the surrogate model maintains high local fidelity to the reference instance.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Stability &amp; Efficiency Limitations: </a:t>
            </a:r>
            <a:r>
              <a:rPr lang="en"/>
              <a:t>Standard random sampling often leads to result instability (variability across runs) and high energy consumption due to evaluating numerous irrelevant points with low locality weights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325" y="186950"/>
            <a:ext cx="3125443" cy="4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idx="4294967295" type="body"/>
          </p:nvPr>
        </p:nvSpPr>
        <p:spPr>
          <a:xfrm>
            <a:off x="340650" y="175000"/>
            <a:ext cx="31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50" y="126975"/>
            <a:ext cx="7780705" cy="488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LIME Mind-Map</a:t>
            </a:r>
            <a:endParaRPr/>
          </a:p>
        </p:txBody>
      </p:sp>
      <p:pic>
        <p:nvPicPr>
          <p:cNvPr id="339" name="Google Shape;33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400" y="1328649"/>
            <a:ext cx="8758350" cy="291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 txBox="1"/>
          <p:nvPr>
            <p:ph type="title"/>
          </p:nvPr>
        </p:nvSpPr>
        <p:spPr>
          <a:xfrm>
            <a:off x="333750" y="186950"/>
            <a:ext cx="8462700" cy="8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Weighted Least Squares for Explanation</a:t>
            </a:r>
            <a:endParaRPr sz="3000"/>
          </a:p>
        </p:txBody>
      </p:sp>
      <p:sp>
        <p:nvSpPr>
          <p:cNvPr id="345" name="Google Shape;345;p44"/>
          <p:cNvSpPr txBox="1"/>
          <p:nvPr>
            <p:ph idx="3" type="body"/>
          </p:nvPr>
        </p:nvSpPr>
        <p:spPr>
          <a:xfrm>
            <a:off x="147725" y="1141375"/>
            <a:ext cx="5257800" cy="3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Locality Weighting (λκ,i):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Each sampled point is assigned a weight based on its distance fr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om x_0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 Nearby points get higher weights, distant points get lower weights, ensuring a local explanation.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Optimization Goal: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Find θ by minimizing the weighted squared error between primary model predictions and secondary model outputs: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1985" y="3391325"/>
            <a:ext cx="3109275" cy="82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9054" y="803076"/>
            <a:ext cx="3722026" cy="381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333750" y="186950"/>
            <a:ext cx="84627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Interpretation of LIME Coefficients</a:t>
            </a:r>
            <a:endParaRPr sz="3000"/>
          </a:p>
        </p:txBody>
      </p:sp>
      <p:sp>
        <p:nvSpPr>
          <p:cNvPr id="353" name="Google Shape;353;p45"/>
          <p:cNvSpPr txBox="1"/>
          <p:nvPr>
            <p:ph idx="3" type="body"/>
          </p:nvPr>
        </p:nvSpPr>
        <p:spPr>
          <a:xfrm>
            <a:off x="519600" y="1418950"/>
            <a:ext cx="8748900" cy="2665800"/>
          </a:xfrm>
          <a:prstGeom prst="rect">
            <a:avLst/>
          </a:prstGeom>
        </p:spPr>
        <p:txBody>
          <a:bodyPr anchorCtr="0" anchor="t" bIns="94500" lIns="94500" spcFirstLastPara="1" rIns="94500" wrap="square" tIns="94500">
            <a:noAutofit/>
          </a:bodyPr>
          <a:lstStyle/>
          <a:p>
            <a:pPr indent="-315105" lvl="0" marL="472658" rtl="0" algn="l">
              <a:spcBef>
                <a:spcPts val="0"/>
              </a:spcBef>
              <a:spcAft>
                <a:spcPts val="0"/>
              </a:spcAft>
              <a:buSzPts val="1241"/>
              <a:buChar char="●"/>
            </a:pPr>
            <a:r>
              <a:rPr lang="en" sz="1240"/>
              <a:t>LIME coefficients represent the contribution of each feature to the prediction of the instance x_</a:t>
            </a:r>
            <a:r>
              <a:rPr lang="en" sz="1240"/>
              <a:t>0.</a:t>
            </a:r>
            <a:endParaRPr sz="1240"/>
          </a:p>
          <a:p>
            <a:pPr indent="-315105" lvl="0" marL="472658" rtl="0" algn="l">
              <a:spcBef>
                <a:spcPts val="0"/>
              </a:spcBef>
              <a:spcAft>
                <a:spcPts val="0"/>
              </a:spcAft>
              <a:buSzPts val="1241"/>
              <a:buChar char="●"/>
            </a:pPr>
            <a:r>
              <a:rPr lang="en" sz="1240"/>
              <a:t>Each coefficient      shows the local effect of a feature. A positive value increases the prediction, while a negative value decreases it.</a:t>
            </a:r>
            <a:endParaRPr sz="1240"/>
          </a:p>
          <a:p>
            <a:pPr indent="-315105" lvl="0" marL="472658" rtl="0" algn="l">
              <a:spcBef>
                <a:spcPts val="0"/>
              </a:spcBef>
              <a:spcAft>
                <a:spcPts val="0"/>
              </a:spcAft>
              <a:buSzPts val="1241"/>
              <a:buChar char="●"/>
            </a:pPr>
            <a:r>
              <a:rPr lang="en" sz="1240"/>
              <a:t>Larger absolute values ∣      ∣ indicate more influential features, allowing feature importance ranking.</a:t>
            </a:r>
            <a:endParaRPr sz="1240"/>
          </a:p>
          <a:p>
            <a:pPr indent="-315105" lvl="0" marL="472658" rtl="0" algn="l">
              <a:spcBef>
                <a:spcPts val="0"/>
              </a:spcBef>
              <a:spcAft>
                <a:spcPts val="0"/>
              </a:spcAft>
              <a:buSzPts val="1241"/>
              <a:buChar char="●"/>
            </a:pPr>
            <a:r>
              <a:rPr lang="en" sz="1240"/>
              <a:t>These coefficients are valid only near x_0​ and do not describe the global behavior of the model.</a:t>
            </a:r>
            <a:endParaRPr sz="1240"/>
          </a:p>
          <a:p>
            <a:pPr indent="-315105" lvl="0" marL="472658" rtl="0" algn="l">
              <a:spcBef>
                <a:spcPts val="0"/>
              </a:spcBef>
              <a:spcAft>
                <a:spcPts val="0"/>
              </a:spcAft>
              <a:buSzPts val="1241"/>
              <a:buFont typeface="Arial"/>
              <a:buChar char="●"/>
            </a:pPr>
            <a:r>
              <a:rPr b="1" lang="en" sz="1240">
                <a:latin typeface="Arial"/>
                <a:ea typeface="Arial"/>
                <a:cs typeface="Arial"/>
                <a:sym typeface="Arial"/>
              </a:rPr>
              <a:t>Mathematical Representation:</a:t>
            </a:r>
            <a:endParaRPr b="1" sz="1240">
              <a:latin typeface="Arial"/>
              <a:ea typeface="Arial"/>
              <a:cs typeface="Arial"/>
              <a:sym typeface="Arial"/>
            </a:endParaRPr>
          </a:p>
          <a:p>
            <a:pPr indent="0" lvl="0" marL="472658" rtl="0" algn="l">
              <a:spcBef>
                <a:spcPts val="1241"/>
              </a:spcBef>
              <a:spcAft>
                <a:spcPts val="0"/>
              </a:spcAft>
              <a:buNone/>
            </a:pPr>
            <a:r>
              <a:t/>
            </a:r>
            <a:endParaRPr sz="1240">
              <a:latin typeface="Arial"/>
              <a:ea typeface="Arial"/>
              <a:cs typeface="Arial"/>
              <a:sym typeface="Arial"/>
            </a:endParaRPr>
          </a:p>
          <a:p>
            <a:pPr indent="0" lvl="0" marL="472658" rtl="0" algn="l">
              <a:spcBef>
                <a:spcPts val="1241"/>
              </a:spcBef>
              <a:spcAft>
                <a:spcPts val="0"/>
              </a:spcAft>
              <a:buNone/>
            </a:pPr>
            <a:r>
              <a:rPr lang="en" sz="1240">
                <a:latin typeface="Arial"/>
                <a:ea typeface="Arial"/>
                <a:cs typeface="Arial"/>
                <a:sym typeface="Arial"/>
              </a:rPr>
              <a:t>This vector represents the feature-wise contribution to the prediction.</a:t>
            </a:r>
            <a:endParaRPr sz="124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41"/>
              </a:spcBef>
              <a:spcAft>
                <a:spcPts val="1241"/>
              </a:spcAft>
              <a:buNone/>
            </a:pPr>
            <a:r>
              <a:t/>
            </a:r>
            <a:endParaRPr sz="1240"/>
          </a:p>
        </p:txBody>
      </p:sp>
      <p:pic>
        <p:nvPicPr>
          <p:cNvPr id="354" name="Google Shape;3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440" y="1686341"/>
            <a:ext cx="186462" cy="285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829" y="2139294"/>
            <a:ext cx="186462" cy="285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1747" y="2868407"/>
            <a:ext cx="2399887" cy="40907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/>
          <p:nvPr/>
        </p:nvSpPr>
        <p:spPr>
          <a:xfrm>
            <a:off x="514975" y="1180950"/>
            <a:ext cx="8166000" cy="2799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>
            <p:ph type="title"/>
          </p:nvPr>
        </p:nvSpPr>
        <p:spPr>
          <a:xfrm>
            <a:off x="340650" y="73225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Random Sampling from Multivariate Normal Distribution</a:t>
            </a:r>
            <a:endParaRPr sz="2600"/>
          </a:p>
        </p:txBody>
      </p:sp>
      <p:sp>
        <p:nvSpPr>
          <p:cNvPr id="363" name="Google Shape;363;p46"/>
          <p:cNvSpPr txBox="1"/>
          <p:nvPr>
            <p:ph idx="3" type="body"/>
          </p:nvPr>
        </p:nvSpPr>
        <p:spPr>
          <a:xfrm>
            <a:off x="244425" y="955550"/>
            <a:ext cx="4959600" cy="3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Sampling Distribution: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Synthetic points are generated from a multivariate normal distribution: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Center (x_0: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The distribution is centered at the instance of interest x_0​, ensuring samples lie in its local neighborhood.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Covariance Matrix (Σ):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Σ is a diagonal matrix with entries (sj)^2, the variances of training features values, which control the spread of sampling.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Feature Independence: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Since Σ is diagonal, feature values are sampled independently. Sampled points are passed through the primary model to create a local dataset for training the surrogate model.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Drawbacks: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Random sampling can cause instability and inefficiency, as distant samples may receive very low weights and not contribute to the explanation.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050" y="1107950"/>
            <a:ext cx="3787550" cy="34143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200" y="1404869"/>
            <a:ext cx="1063474" cy="31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7800" y="3634583"/>
            <a:ext cx="863843" cy="27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7"/>
          <p:cNvSpPr txBox="1"/>
          <p:nvPr>
            <p:ph type="title"/>
          </p:nvPr>
        </p:nvSpPr>
        <p:spPr>
          <a:xfrm>
            <a:off x="146450" y="186950"/>
            <a:ext cx="8568600" cy="9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Why covariance matrix is diagonal in LIME?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FF0000"/>
                </a:solidFill>
              </a:rPr>
              <a:t>What</a:t>
            </a:r>
            <a:r>
              <a:rPr i="1" lang="en" sz="2000">
                <a:solidFill>
                  <a:srgbClr val="FF0000"/>
                </a:solidFill>
              </a:rPr>
              <a:t> if it is not?</a:t>
            </a:r>
            <a:endParaRPr i="1" sz="2000">
              <a:solidFill>
                <a:srgbClr val="FF0000"/>
              </a:solidFill>
            </a:endParaRPr>
          </a:p>
        </p:txBody>
      </p:sp>
      <p:sp>
        <p:nvSpPr>
          <p:cNvPr id="372" name="Google Shape;372;p47"/>
          <p:cNvSpPr txBox="1"/>
          <p:nvPr>
            <p:ph idx="3" type="body"/>
          </p:nvPr>
        </p:nvSpPr>
        <p:spPr>
          <a:xfrm>
            <a:off x="244425" y="1127450"/>
            <a:ext cx="8568600" cy="31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Variance of Training Features in LIME</a:t>
            </a:r>
            <a:r>
              <a:rPr lang="en"/>
              <a:t>: Variance refers to how much the feature values vary in the</a:t>
            </a:r>
            <a:r>
              <a:rPr b="1" lang="en"/>
              <a:t> training data</a:t>
            </a:r>
            <a:r>
              <a:rPr lang="en"/>
              <a:t>. LIME uses this </a:t>
            </a:r>
            <a:r>
              <a:rPr b="1" lang="en"/>
              <a:t>variance</a:t>
            </a:r>
            <a:r>
              <a:rPr lang="en"/>
              <a:t> to </a:t>
            </a:r>
            <a:r>
              <a:rPr b="1" lang="en"/>
              <a:t>sample new values</a:t>
            </a:r>
            <a:r>
              <a:rPr lang="en"/>
              <a:t> around the </a:t>
            </a:r>
            <a:r>
              <a:rPr b="1" lang="en"/>
              <a:t>instance</a:t>
            </a:r>
            <a:r>
              <a:rPr lang="en"/>
              <a:t> 𝑥_0, keeping samples realistic and close to the original data distribution.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How much variance should be used:</a:t>
            </a:r>
            <a:r>
              <a:rPr lang="en"/>
              <a:t> Variance should be moderate. Too large can make  samples go far from instance, </a:t>
            </a:r>
            <a:r>
              <a:rPr lang="en"/>
              <a:t>losing</a:t>
            </a:r>
            <a:r>
              <a:rPr lang="en"/>
              <a:t> local behavior and too small can make the samples too close, </a:t>
            </a:r>
            <a:r>
              <a:rPr b="1" lang="en"/>
              <a:t>failing </a:t>
            </a:r>
            <a:r>
              <a:rPr lang="en"/>
              <a:t>to capture</a:t>
            </a:r>
            <a:r>
              <a:rPr b="1" lang="en"/>
              <a:t> feature influence properly.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Why Covariance Matrix is Diagonal in LIME: </a:t>
            </a:r>
            <a:r>
              <a:rPr lang="en"/>
              <a:t>A diagonal covariance matrix assumes features are independent, allowing LIME to vary each feature separately and measure its individual effect clearly. Assuming features are independent means LIME changes </a:t>
            </a:r>
            <a:r>
              <a:rPr b="1" lang="en"/>
              <a:t>one feature at a time</a:t>
            </a:r>
            <a:r>
              <a:rPr lang="en"/>
              <a:t> without considering its relationship with other features during sampling.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If covariance is not diagonal: </a:t>
            </a:r>
            <a:r>
              <a:rPr lang="en"/>
              <a:t>Features become correlated during sampling, making it difficult to isolate and interpret the individual contribution of each feature.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Note: In real dataset, features may be correlated, so independent sampling can sometimes create unrealistic samples.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LIME: Pictorial Explanation</a:t>
            </a:r>
            <a:endParaRPr sz="3500"/>
          </a:p>
        </p:txBody>
      </p:sp>
      <p:pic>
        <p:nvPicPr>
          <p:cNvPr id="378" name="Google Shape;378;p48"/>
          <p:cNvPicPr preferRelativeResize="0"/>
          <p:nvPr/>
        </p:nvPicPr>
        <p:blipFill rotWithShape="1">
          <a:blip r:embed="rId3">
            <a:alphaModFix/>
          </a:blip>
          <a:srcRect b="67242" l="7379" r="17854" t="0"/>
          <a:stretch/>
        </p:blipFill>
        <p:spPr>
          <a:xfrm>
            <a:off x="531925" y="635137"/>
            <a:ext cx="3359950" cy="193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8"/>
          <p:cNvPicPr preferRelativeResize="0"/>
          <p:nvPr/>
        </p:nvPicPr>
        <p:blipFill rotWithShape="1">
          <a:blip r:embed="rId3">
            <a:alphaModFix/>
          </a:blip>
          <a:srcRect b="0" l="5194" r="17627" t="63368"/>
          <a:stretch/>
        </p:blipFill>
        <p:spPr>
          <a:xfrm>
            <a:off x="2590700" y="2659225"/>
            <a:ext cx="3762500" cy="234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8"/>
          <p:cNvPicPr preferRelativeResize="0"/>
          <p:nvPr/>
        </p:nvPicPr>
        <p:blipFill rotWithShape="1">
          <a:blip r:embed="rId3">
            <a:alphaModFix/>
          </a:blip>
          <a:srcRect b="36156" l="5294" r="17520" t="32759"/>
          <a:stretch/>
        </p:blipFill>
        <p:spPr>
          <a:xfrm>
            <a:off x="4824225" y="785051"/>
            <a:ext cx="3537375" cy="18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LIME can be improved?</a:t>
            </a:r>
            <a:endParaRPr/>
          </a:p>
        </p:txBody>
      </p:sp>
      <p:sp>
        <p:nvSpPr>
          <p:cNvPr id="386" name="Google Shape;386;p49"/>
          <p:cNvSpPr txBox="1"/>
          <p:nvPr/>
        </p:nvSpPr>
        <p:spPr>
          <a:xfrm>
            <a:off x="450400" y="909775"/>
            <a:ext cx="7684800" cy="4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Sampling strategy</a:t>
            </a:r>
            <a:endParaRPr sz="13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Replace purely random sampling with more informative and structured sampling.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Improve coverage of the local neighborhood to produce more reliable surrogate models.</a:t>
            </a:r>
            <a:endParaRPr sz="13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Distance measurement and locality definition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Use learned embeddings (e.g., via autoencoders) instead of raw input space.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Provides a more meaningful notion of similarity between instances.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Kernel width selection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Optimize kernel width rather than relying on fixed heuristics.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Ensures a better balance between locality and explanation stability.</a:t>
            </a:r>
            <a:br>
              <a:rPr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Adaptive sample size determination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>
                <a:solidFill>
                  <a:schemeClr val="dk1"/>
                </a:solidFill>
              </a:rPr>
              <a:t>Dynamically adjust the number of samples based on explanation stability.</a:t>
            </a:r>
            <a:endParaRPr sz="13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300">
                <a:solidFill>
                  <a:schemeClr val="dk1"/>
                </a:solidFill>
              </a:rPr>
              <a:t>Reduces unnecessary computation while maintaining explanation reliability.</a:t>
            </a:r>
            <a:br>
              <a:rPr lang="en" sz="1100">
                <a:solidFill>
                  <a:schemeClr val="dk1"/>
                </a:solidFill>
              </a:rPr>
            </a:br>
            <a:br>
              <a:rPr b="1" lang="en" sz="11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0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Problem: Computational Cost and Inefficiency of LIME</a:t>
            </a:r>
            <a:endParaRPr sz="3500"/>
          </a:p>
        </p:txBody>
      </p:sp>
      <p:sp>
        <p:nvSpPr>
          <p:cNvPr id="392" name="Google Shape;392;p50"/>
          <p:cNvSpPr txBox="1"/>
          <p:nvPr>
            <p:ph idx="3" type="body"/>
          </p:nvPr>
        </p:nvSpPr>
        <p:spPr>
          <a:xfrm>
            <a:off x="745325" y="1990700"/>
            <a:ext cx="32232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0000"/>
                </a:solidFill>
              </a:rPr>
              <a:t>But LIME requires:</a:t>
            </a:r>
            <a:endParaRPr b="1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Many sampled points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Many model evaluations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0"/>
          <p:cNvSpPr txBox="1"/>
          <p:nvPr>
            <p:ph idx="3" type="body"/>
          </p:nvPr>
        </p:nvSpPr>
        <p:spPr>
          <a:xfrm>
            <a:off x="745325" y="3170300"/>
            <a:ext cx="3223200" cy="15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leads to:</a:t>
            </a:r>
            <a:endParaRPr b="1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High </a:t>
            </a:r>
            <a:r>
              <a:rPr b="1" lang="en"/>
              <a:t>computational cost</a:t>
            </a:r>
            <a:br>
              <a:rPr b="1" lang="en"/>
            </a:br>
            <a:endParaRPr b="1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High </a:t>
            </a:r>
            <a:r>
              <a:rPr b="1" lang="en"/>
              <a:t>energy consumption</a:t>
            </a:r>
            <a:br>
              <a:rPr b="1" lang="en"/>
            </a:br>
            <a:endParaRPr b="1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Slow explanations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0"/>
          <p:cNvSpPr txBox="1"/>
          <p:nvPr>
            <p:ph idx="3" type="body"/>
          </p:nvPr>
        </p:nvSpPr>
        <p:spPr>
          <a:xfrm>
            <a:off x="745325" y="1519425"/>
            <a:ext cx="7763400" cy="4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6AA84F"/>
                </a:solidFill>
              </a:rPr>
              <a:t>LIME explains predictions using local linear models.</a:t>
            </a:r>
            <a:endParaRPr b="1" sz="18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0"/>
          <p:cNvSpPr txBox="1"/>
          <p:nvPr>
            <p:ph idx="3" type="body"/>
          </p:nvPr>
        </p:nvSpPr>
        <p:spPr>
          <a:xfrm>
            <a:off x="3653025" y="2106950"/>
            <a:ext cx="49941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375" y="2049437"/>
            <a:ext cx="4019898" cy="257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Problem: Instability of LIME</a:t>
            </a:r>
            <a:endParaRPr sz="3500"/>
          </a:p>
        </p:txBody>
      </p:sp>
      <p:sp>
        <p:nvSpPr>
          <p:cNvPr id="402" name="Google Shape;402;p51"/>
          <p:cNvSpPr txBox="1"/>
          <p:nvPr>
            <p:ph idx="3" type="body"/>
          </p:nvPr>
        </p:nvSpPr>
        <p:spPr>
          <a:xfrm>
            <a:off x="664250" y="1959100"/>
            <a:ext cx="3759600" cy="14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FF0000"/>
                </a:solidFill>
              </a:rPr>
              <a:t>Why does this happen?</a:t>
            </a:r>
            <a:endParaRPr b="1" sz="14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300"/>
              <a:t> sampling of neighborhood data is </a:t>
            </a:r>
            <a:r>
              <a:rPr lang="en" sz="1300">
                <a:solidFill>
                  <a:srgbClr val="0000FF"/>
                </a:solidFill>
              </a:rPr>
              <a:t>completely random</a:t>
            </a:r>
            <a:r>
              <a:rPr lang="en" sz="1300"/>
              <a:t>, hence the training data for the interpretable secondary model is different at each run. </a:t>
            </a:r>
            <a:endParaRPr sz="1300"/>
          </a:p>
        </p:txBody>
      </p:sp>
      <p:sp>
        <p:nvSpPr>
          <p:cNvPr id="403" name="Google Shape;403;p51"/>
          <p:cNvSpPr txBox="1"/>
          <p:nvPr>
            <p:ph idx="3" type="body"/>
          </p:nvPr>
        </p:nvSpPr>
        <p:spPr>
          <a:xfrm>
            <a:off x="1015550" y="3454775"/>
            <a:ext cx="6723300" cy="9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00"/>
                </a:solidFill>
              </a:rPr>
              <a:t>Consequence</a:t>
            </a:r>
            <a:r>
              <a:rPr b="1" lang="en">
                <a:solidFill>
                  <a:srgbClr val="FF0000"/>
                </a:solidFill>
              </a:rPr>
              <a:t>:</a:t>
            </a:r>
            <a:endParaRPr b="1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/>
              <a:t>Less trust in the model even though </a:t>
            </a:r>
            <a:r>
              <a:rPr lang="en" sz="1300"/>
              <a:t>the main proposed purposes of LIME is to increase trust in a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1"/>
          <p:cNvSpPr txBox="1"/>
          <p:nvPr>
            <p:ph idx="3" type="body"/>
          </p:nvPr>
        </p:nvSpPr>
        <p:spPr>
          <a:xfrm>
            <a:off x="745325" y="893700"/>
            <a:ext cx="77634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6AA84F"/>
                </a:solidFill>
              </a:rPr>
              <a:t>Instability in LIME refers to the fact that the method leads to different results for multiple runs of the algorithm.</a:t>
            </a:r>
            <a:endParaRPr b="1" sz="18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1"/>
          <p:cNvSpPr txBox="1"/>
          <p:nvPr>
            <p:ph idx="3" type="body"/>
          </p:nvPr>
        </p:nvSpPr>
        <p:spPr>
          <a:xfrm>
            <a:off x="4906225" y="1959099"/>
            <a:ext cx="3223200" cy="16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FF0000"/>
                </a:solidFill>
              </a:rPr>
              <a:t>For example:</a:t>
            </a:r>
            <a:endParaRPr b="1" sz="1400"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A variable could for example positively affect the prediction in one run and have a negative impact in another run.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Problem: </a:t>
            </a:r>
            <a:r>
              <a:rPr lang="en" sz="3500"/>
              <a:t>Excessive Model Evaluations </a:t>
            </a:r>
            <a:endParaRPr sz="3500"/>
          </a:p>
        </p:txBody>
      </p:sp>
      <p:sp>
        <p:nvSpPr>
          <p:cNvPr id="411" name="Google Shape;411;p52"/>
          <p:cNvSpPr txBox="1"/>
          <p:nvPr>
            <p:ph idx="3" type="body"/>
          </p:nvPr>
        </p:nvSpPr>
        <p:spPr>
          <a:xfrm>
            <a:off x="646225" y="1623350"/>
            <a:ext cx="4101900" cy="20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FF0000"/>
                </a:solidFill>
              </a:rPr>
              <a:t>Why does this happen?</a:t>
            </a:r>
            <a:endParaRPr b="1" sz="1400"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300"/>
              <a:t> </a:t>
            </a:r>
            <a:r>
              <a:rPr lang="en" sz="1300"/>
              <a:t>Many sampled instances are far from the instance of interest</a:t>
            </a:r>
            <a:endParaRPr sz="13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300"/>
              <a:t>These instances have near-zero locality weight and they provide little or no useful information for the local surrogate model</a:t>
            </a:r>
            <a:endParaRPr sz="13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300"/>
              <a:t>Despite this, the prediction function f must still be evaluated</a:t>
            </a:r>
            <a:endParaRPr sz="1300"/>
          </a:p>
        </p:txBody>
      </p:sp>
      <p:sp>
        <p:nvSpPr>
          <p:cNvPr id="412" name="Google Shape;412;p52"/>
          <p:cNvSpPr txBox="1"/>
          <p:nvPr>
            <p:ph idx="3" type="body"/>
          </p:nvPr>
        </p:nvSpPr>
        <p:spPr>
          <a:xfrm>
            <a:off x="988525" y="3571875"/>
            <a:ext cx="67233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0000"/>
                </a:solidFill>
              </a:rPr>
              <a:t>Consequence</a:t>
            </a:r>
            <a:r>
              <a:rPr b="1" lang="en">
                <a:solidFill>
                  <a:srgbClr val="FF0000"/>
                </a:solidFill>
              </a:rPr>
              <a:t>:</a:t>
            </a:r>
            <a:endParaRPr b="1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/>
              <a:t>Increased computational runtime and energy consumption</a:t>
            </a:r>
            <a:endParaRPr sz="13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/>
              <a:t>Higher deployment cost due to repeated inference</a:t>
            </a:r>
            <a:endParaRPr sz="13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/>
              <a:t>Reduced efficiency, especially in real-time explanation scenarios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2"/>
          <p:cNvSpPr txBox="1"/>
          <p:nvPr>
            <p:ph idx="3" type="body"/>
          </p:nvPr>
        </p:nvSpPr>
        <p:spPr>
          <a:xfrm>
            <a:off x="181200" y="839650"/>
            <a:ext cx="8962800" cy="7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6AA84F"/>
                </a:solidFill>
              </a:rPr>
              <a:t>LIME requires evaluating many sampled instances, including irrelevant ones, which increases computational cost, runtime, and energy consumption.</a:t>
            </a:r>
            <a:endParaRPr b="1" sz="18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2"/>
          <p:cNvSpPr txBox="1"/>
          <p:nvPr>
            <p:ph idx="3" type="body"/>
          </p:nvPr>
        </p:nvSpPr>
        <p:spPr>
          <a:xfrm>
            <a:off x="4861200" y="1707050"/>
            <a:ext cx="3715200" cy="19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FF0000"/>
                </a:solidFill>
              </a:rPr>
              <a:t>For example:</a:t>
            </a:r>
            <a:endParaRPr b="1" sz="1400">
              <a:solidFill>
                <a:srgbClr val="FF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An explanation may require thousands of model evaluations (e.g., 5000 samples)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1300"/>
              <a:t>Each evaluation adds computational cost, especially if the prediction function is expensive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>
            <p:ph type="title"/>
          </p:nvPr>
        </p:nvSpPr>
        <p:spPr>
          <a:xfrm>
            <a:off x="333750" y="186950"/>
            <a:ext cx="8462700" cy="14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Key Idea: Using Optimal Design to Improve LIME</a:t>
            </a:r>
            <a:endParaRPr sz="3500"/>
          </a:p>
        </p:txBody>
      </p:sp>
      <p:sp>
        <p:nvSpPr>
          <p:cNvPr id="420" name="Google Shape;420;p53"/>
          <p:cNvSpPr/>
          <p:nvPr/>
        </p:nvSpPr>
        <p:spPr>
          <a:xfrm>
            <a:off x="566927" y="1473050"/>
            <a:ext cx="2163000" cy="2377800"/>
          </a:xfrm>
          <a:prstGeom prst="flowChartAlternateProcess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450" lIns="95450" spcFirstLastPara="1" rIns="95450" wrap="square" tIns="95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Goal</a:t>
            </a: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7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421" lvl="0" marL="424562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Clr>
                <a:schemeClr val="dk1"/>
              </a:buClr>
              <a:buSzPts val="1672"/>
              <a:buFont typeface="DM Sans"/>
              <a:buChar char="●"/>
            </a:pP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Reduce number of </a:t>
            </a:r>
            <a:r>
              <a:rPr lang="en" sz="1671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samples</a:t>
            </a:r>
            <a:endParaRPr sz="1671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421" lvl="0" marL="42456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2"/>
              <a:buFont typeface="DM Sans"/>
              <a:buChar char="●"/>
            </a:pP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maintaining </a:t>
            </a:r>
            <a:r>
              <a:rPr lang="en" sz="1671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explanation quality</a:t>
            </a:r>
            <a:endParaRPr sz="1671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1" name="Google Shape;421;p53"/>
          <p:cNvSpPr/>
          <p:nvPr/>
        </p:nvSpPr>
        <p:spPr>
          <a:xfrm>
            <a:off x="6345564" y="1401440"/>
            <a:ext cx="2163000" cy="2377800"/>
          </a:xfrm>
          <a:prstGeom prst="flowChartAlternateProcess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450" lIns="95450" spcFirstLastPara="1" rIns="95450" wrap="square" tIns="95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principle:</a:t>
            </a:r>
            <a:endParaRPr b="1" sz="167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421" lvl="0" marL="424562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Clr>
                <a:schemeClr val="dk1"/>
              </a:buClr>
              <a:buSzPts val="1672"/>
              <a:buFont typeface="DM Sans"/>
              <a:buChar char="●"/>
            </a:pP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Maximize </a:t>
            </a:r>
            <a:r>
              <a:rPr lang="en" sz="1671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information</a:t>
            </a:r>
            <a:endParaRPr sz="1671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421" lvl="0" marL="42456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2"/>
              <a:buFont typeface="DM Sans"/>
              <a:buChar char="●"/>
            </a:pP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Minimize </a:t>
            </a:r>
            <a:r>
              <a:rPr lang="en" sz="1671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variance</a:t>
            </a:r>
            <a:endParaRPr sz="1671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1253"/>
              </a:spcBef>
              <a:spcAft>
                <a:spcPts val="0"/>
              </a:spcAft>
              <a:buNone/>
            </a:pPr>
            <a:r>
              <a:t/>
            </a:r>
            <a:endParaRPr sz="167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2" name="Google Shape;422;p53"/>
          <p:cNvSpPr/>
          <p:nvPr/>
        </p:nvSpPr>
        <p:spPr>
          <a:xfrm>
            <a:off x="3456245" y="1401440"/>
            <a:ext cx="2163000" cy="2377800"/>
          </a:xfrm>
          <a:prstGeom prst="flowChartAlternateProcess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450" lIns="95450" spcFirstLastPara="1" rIns="95450" wrap="square" tIns="954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7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8421" lvl="0" marL="424562" rtl="0" algn="l">
              <a:lnSpc>
                <a:spcPct val="115000"/>
              </a:lnSpc>
              <a:spcBef>
                <a:spcPts val="1253"/>
              </a:spcBef>
              <a:spcAft>
                <a:spcPts val="0"/>
              </a:spcAft>
              <a:buClr>
                <a:schemeClr val="dk1"/>
              </a:buClr>
              <a:buSzPts val="1672"/>
              <a:buFont typeface="DM Sans"/>
              <a:buChar char="●"/>
            </a:pP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 </a:t>
            </a:r>
            <a:r>
              <a:rPr lang="en" sz="1671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Optimal Design</a:t>
            </a:r>
            <a:r>
              <a:rPr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of Experiments</a:t>
            </a:r>
            <a:endParaRPr sz="167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1253"/>
              </a:spcBef>
              <a:spcAft>
                <a:spcPts val="0"/>
              </a:spcAft>
              <a:buNone/>
            </a:pPr>
            <a:r>
              <a:t/>
            </a:r>
            <a:endParaRPr sz="167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3" name="Google Shape;423;p53"/>
          <p:cNvSpPr/>
          <p:nvPr/>
        </p:nvSpPr>
        <p:spPr>
          <a:xfrm>
            <a:off x="2729927" y="2518940"/>
            <a:ext cx="735600" cy="3240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00" lIns="102800" spcFirstLastPara="1" rIns="102800" wrap="square" tIns="10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4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4" name="Google Shape;424;p53"/>
          <p:cNvSpPr/>
          <p:nvPr/>
        </p:nvSpPr>
        <p:spPr>
          <a:xfrm>
            <a:off x="5626126" y="2519740"/>
            <a:ext cx="735600" cy="3240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10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00" lIns="102800" spcFirstLastPara="1" rIns="102800" wrap="square" tIns="102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4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53"/>
          <p:cNvSpPr/>
          <p:nvPr/>
        </p:nvSpPr>
        <p:spPr>
          <a:xfrm>
            <a:off x="235800" y="3945625"/>
            <a:ext cx="8672400" cy="647400"/>
          </a:xfrm>
          <a:prstGeom prst="flowChartAlternateProcess">
            <a:avLst/>
          </a:prstGeom>
          <a:noFill/>
          <a:ln cap="flat" cmpd="sng" w="99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450" lIns="95450" spcFirstLastPara="1" rIns="95450" wrap="square" tIns="954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53"/>
              </a:spcBef>
              <a:spcAft>
                <a:spcPts val="1253"/>
              </a:spcAft>
              <a:buNone/>
            </a:pPr>
            <a:r>
              <a:rPr b="1" i="1"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Key Words: </a:t>
            </a:r>
            <a:r>
              <a:rPr i="1" lang="en" sz="167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samples, explanation quality, optimal design, information, variance</a:t>
            </a:r>
            <a:endParaRPr i="1" sz="1671">
              <a:solidFill>
                <a:srgbClr val="FF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Introduction to Optimal Design of Experiments</a:t>
            </a:r>
            <a:endParaRPr sz="2500"/>
          </a:p>
        </p:txBody>
      </p:sp>
      <p:sp>
        <p:nvSpPr>
          <p:cNvPr id="431" name="Google Shape;431;p54"/>
          <p:cNvSpPr txBox="1"/>
          <p:nvPr>
            <p:ph type="title"/>
          </p:nvPr>
        </p:nvSpPr>
        <p:spPr>
          <a:xfrm>
            <a:off x="177975" y="1024575"/>
            <a:ext cx="4713300" cy="35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Optimal Design of Experiments (ODE)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statistical approach focused on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maximizing information from limited observations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 Improves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collection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 under constraints like computational resources.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Used in LIME to optimize selection of sample points for approximating the primary model with an interpretable secondary model.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Strategically selected samples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 primary model evaluations,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lowering computational cost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energy consumption.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enhances the Stability 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it provides fixed support points, reducing variability and improving stability </a:t>
            </a: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compared to random sampling in LIME. 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Key-word: D-Optimal Design</a:t>
            </a:r>
            <a:endParaRPr b="1"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cube represents the design space of features (𝑋1, 𝑋2, 𝑋3). The orange boundary points represent optimally selected support points using Optimal Design (D-optimal design).</a:t>
            </a:r>
            <a:endParaRPr i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625" y="1024576"/>
            <a:ext cx="3559582" cy="31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Model Setup and Notation</a:t>
            </a:r>
            <a:endParaRPr sz="4000"/>
          </a:p>
        </p:txBody>
      </p:sp>
      <p:pic>
        <p:nvPicPr>
          <p:cNvPr id="438" name="Google Shape;43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700" y="865475"/>
            <a:ext cx="7259472" cy="41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6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Parameter Estimation</a:t>
            </a:r>
            <a:endParaRPr sz="4000"/>
          </a:p>
        </p:txBody>
      </p:sp>
      <p:pic>
        <p:nvPicPr>
          <p:cNvPr id="444" name="Google Shape;44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00" y="865325"/>
            <a:ext cx="7757451" cy="427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Design and Optimality Criterion</a:t>
            </a:r>
            <a:endParaRPr sz="4000"/>
          </a:p>
        </p:txBody>
      </p:sp>
      <p:pic>
        <p:nvPicPr>
          <p:cNvPr id="450" name="Google Shape;45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750" y="891750"/>
            <a:ext cx="7206191" cy="42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Approximation Goal</a:t>
            </a:r>
            <a:endParaRPr sz="4000"/>
          </a:p>
        </p:txBody>
      </p:sp>
      <p:pic>
        <p:nvPicPr>
          <p:cNvPr id="456" name="Google Shape;45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25" y="819725"/>
            <a:ext cx="6820600" cy="419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9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Importance of the Center Point</a:t>
            </a:r>
            <a:endParaRPr sz="4000"/>
          </a:p>
        </p:txBody>
      </p:sp>
      <p:pic>
        <p:nvPicPr>
          <p:cNvPr id="462" name="Google Shape;46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625" y="909767"/>
            <a:ext cx="6910701" cy="416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0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Structure of the D-opt Design</a:t>
            </a:r>
            <a:endParaRPr sz="4000"/>
          </a:p>
        </p:txBody>
      </p:sp>
      <p:pic>
        <p:nvPicPr>
          <p:cNvPr id="468" name="Google Shape;46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00" y="850475"/>
            <a:ext cx="7415149" cy="42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1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Jittering for Practical Sample </a:t>
            </a:r>
            <a:endParaRPr sz="4000"/>
          </a:p>
        </p:txBody>
      </p:sp>
      <p:pic>
        <p:nvPicPr>
          <p:cNvPr id="474" name="Google Shape;47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00" y="801675"/>
            <a:ext cx="7585206" cy="42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2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Jittering for Practical Sample </a:t>
            </a:r>
            <a:endParaRPr sz="4000"/>
          </a:p>
        </p:txBody>
      </p:sp>
      <p:pic>
        <p:nvPicPr>
          <p:cNvPr id="480" name="Google Shape;4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00" y="801675"/>
            <a:ext cx="7585206" cy="42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Green-LIME Example</a:t>
            </a:r>
            <a:endParaRPr sz="4000"/>
          </a:p>
        </p:txBody>
      </p:sp>
      <p:pic>
        <p:nvPicPr>
          <p:cNvPr id="486" name="Google Shape;48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25" y="819675"/>
            <a:ext cx="7095949" cy="41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4"/>
          <p:cNvSpPr txBox="1"/>
          <p:nvPr>
            <p:ph idx="4294967295"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Green-LIME Example (contd.)</a:t>
            </a:r>
            <a:endParaRPr sz="4000"/>
          </a:p>
        </p:txBody>
      </p:sp>
      <p:pic>
        <p:nvPicPr>
          <p:cNvPr id="492" name="Google Shape;49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1225" y="873725"/>
            <a:ext cx="3495524" cy="20199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4"/>
          <p:cNvSpPr txBox="1"/>
          <p:nvPr/>
        </p:nvSpPr>
        <p:spPr>
          <a:xfrm>
            <a:off x="72075" y="999875"/>
            <a:ext cx="57300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chemeClr val="lt2"/>
                </a:solidFill>
              </a:rPr>
              <a:t>reference point</a:t>
            </a:r>
            <a:r>
              <a:rPr lang="en"/>
              <a:t> is shown as a red diamond. Nbd is defined using Euclidean distance and the RBF kernel.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optimal design consists of support points (shown in blue) symmetrically surrounding the reference point (support pts with their locality weight ~ 1/18).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>
                <a:solidFill>
                  <a:schemeClr val="lt2"/>
                </a:solidFill>
              </a:rPr>
              <a:t>total sample size is 501 points.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One sample is assigned to the reference point. And, four samples correspond to the optimal design support points.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64"/>
          <p:cNvSpPr txBox="1"/>
          <p:nvPr/>
        </p:nvSpPr>
        <p:spPr>
          <a:xfrm>
            <a:off x="134375" y="3629425"/>
            <a:ext cx="84999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remaining 496 samples are allocated to the support points proportional to their design weights.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additional samples are generated by adding Gaussian noise with mean 0 and variance 0.01^2 from the support points (</a:t>
            </a:r>
            <a:r>
              <a:rPr lang="en">
                <a:solidFill>
                  <a:schemeClr val="lt2"/>
                </a:solidFill>
              </a:rPr>
              <a:t>jittering</a:t>
            </a:r>
            <a:r>
              <a:rPr lang="en"/>
              <a:t>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5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500" name="Google Shape;500;p65"/>
          <p:cNvSpPr txBox="1"/>
          <p:nvPr>
            <p:ph idx="3" type="body"/>
          </p:nvPr>
        </p:nvSpPr>
        <p:spPr>
          <a:xfrm>
            <a:off x="340650" y="720600"/>
            <a:ext cx="84627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Optimal design of experiments improves LIME by replacing random sampling with structured, informative sampling.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proposed method reduces the number of model evaluations while maintaining comparable explanation quality.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leads to improved computational efficiency and lower energy consumption.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approach is currently for tabular data and regression setting.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Optimal design provides a principled framework for efficient data collection in explainable AI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6"/>
          <p:cNvSpPr txBox="1"/>
          <p:nvPr>
            <p:ph type="title"/>
          </p:nvPr>
        </p:nvSpPr>
        <p:spPr>
          <a:xfrm>
            <a:off x="333750" y="186950"/>
            <a:ext cx="8462700" cy="7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506" name="Google Shape;506;p66"/>
          <p:cNvSpPr txBox="1"/>
          <p:nvPr>
            <p:ph idx="3" type="body"/>
          </p:nvPr>
        </p:nvSpPr>
        <p:spPr>
          <a:xfrm>
            <a:off x="340650" y="720600"/>
            <a:ext cx="8462700" cy="39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Extend optimal design methods to higher-dimensional feature spaces using more efficient design constructions.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Incorporate feature selection methods, such as penalized regression (e.g., Lasso), into the optimal design framework.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Improve robustness by sampling from realistic data distributions rather than artificial perturbations.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Develop joint optimal designs that generate explanations efficiently for multiple reference points.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